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22.svg" ContentType="image/svg+xml"/>
  <Override PartName="/ppt/media/image26.svg" ContentType="image/svg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embeddedFontLst>
    <p:embeddedFont>
      <p:font typeface="MiSans" panose="00000500000000000000" pitchFamily="34" charset="-122"/>
      <p:regular r:id="rId31"/>
    </p:embeddedFont>
    <p:embeddedFont>
      <p:font typeface="MiSans" panose="00000500000000000000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860" y="2007235"/>
            <a:ext cx="6565265" cy="19361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数字奇珍阁：交互式作品博物馆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90430" y="4304665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536575" y="4379595"/>
            <a:ext cx="2477770" cy="350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32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汇报人:数媒2401谢婧雯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430" y="512064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536575" y="5144770"/>
            <a:ext cx="247777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时间: 2025/06/25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3" name="Image 0" descr="https://kimi-img.moonshot.cn/pub/slides/slides_tmpl/image/25-09-04-16:27:00-d2skql61bb2p4onbqhb0.png"/>
          <p:cNvPicPr>
            <a:picLocks noChangeAspect="1"/>
          </p:cNvPicPr>
          <p:nvPr/>
        </p:nvPicPr>
        <p:blipFill>
          <a:blip r:embed="rId1"/>
          <a:srcRect l="10087" t="-37" b="305"/>
          <a:stretch>
            <a:fillRect/>
          </a:stretch>
        </p:blipFill>
        <p:spPr>
          <a:xfrm>
            <a:off x="7114540" y="-1270"/>
            <a:ext cx="5077460" cy="68592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402205"/>
          </a:xfrm>
          <a:prstGeom prst="rect">
            <a:avLst/>
          </a:prstGeom>
          <a:solidFill>
            <a:srgbClr val="232323"/>
          </a:solidFill>
        </p:spPr>
      </p:sp>
      <p:pic>
        <p:nvPicPr>
          <p:cNvPr id="3" name="Image 0" descr="https://kimi-img.moonshot.cn/pub/slides/slides_tmpl/image/25-09-04-16:26:59-d2skqku1bb2p4onbqh8g.png"/>
          <p:cNvPicPr>
            <a:picLocks noChangeAspect="1"/>
          </p:cNvPicPr>
          <p:nvPr/>
        </p:nvPicPr>
        <p:blipFill>
          <a:blip r:embed="rId1"/>
          <a:srcRect t="68" b="68"/>
          <a:stretch>
            <a:fillRect/>
          </a:stretch>
        </p:blipFill>
        <p:spPr>
          <a:xfrm flipH="1">
            <a:off x="332105" y="0"/>
            <a:ext cx="11205845" cy="9372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54233" y="1105535"/>
            <a:ext cx="2883535" cy="83121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4654233" y="1105535"/>
            <a:ext cx="2883535" cy="83121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53598" y="1812290"/>
            <a:ext cx="288480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>
                    <a:alpha val="55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72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614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</p:spPr>
      </p:sp>
      <p:sp>
        <p:nvSpPr>
          <p:cNvPr id="9" name="Shape 6"/>
          <p:cNvSpPr/>
          <p:nvPr/>
        </p:nvSpPr>
        <p:spPr>
          <a:xfrm>
            <a:off x="28251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93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</p:spPr>
      </p:sp>
      <p:sp>
        <p:nvSpPr>
          <p:cNvPr id="11" name="Shape 8"/>
          <p:cNvSpPr/>
          <p:nvPr/>
        </p:nvSpPr>
        <p:spPr>
          <a:xfrm>
            <a:off x="50730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20715" y="3355975"/>
            <a:ext cx="792480" cy="79248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13" name="Shape 10"/>
          <p:cNvSpPr/>
          <p:nvPr/>
        </p:nvSpPr>
        <p:spPr>
          <a:xfrm>
            <a:off x="58572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</p:spPr>
      </p:sp>
      <p:sp>
        <p:nvSpPr>
          <p:cNvPr id="14" name="Shape 11"/>
          <p:cNvSpPr/>
          <p:nvPr/>
        </p:nvSpPr>
        <p:spPr>
          <a:xfrm>
            <a:off x="73209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68615" y="3355975"/>
            <a:ext cx="792480" cy="79248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16" name="Shape 13"/>
          <p:cNvSpPr/>
          <p:nvPr/>
        </p:nvSpPr>
        <p:spPr>
          <a:xfrm>
            <a:off x="81051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</p:spPr>
      </p:sp>
      <p:sp>
        <p:nvSpPr>
          <p:cNvPr id="17" name="Shape 14"/>
          <p:cNvSpPr/>
          <p:nvPr/>
        </p:nvSpPr>
        <p:spPr>
          <a:xfrm>
            <a:off x="95688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16515" y="3355975"/>
            <a:ext cx="792480" cy="79248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19" name="Shape 16"/>
          <p:cNvSpPr/>
          <p:nvPr/>
        </p:nvSpPr>
        <p:spPr>
          <a:xfrm>
            <a:off x="103530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</p:spPr>
      </p:sp>
      <p:sp>
        <p:nvSpPr>
          <p:cNvPr id="20" name="Shape 17"/>
          <p:cNvSpPr/>
          <p:nvPr/>
        </p:nvSpPr>
        <p:spPr>
          <a:xfrm>
            <a:off x="1224915" y="3355975"/>
            <a:ext cx="792480" cy="79248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21" name="Text 18"/>
          <p:cNvSpPr/>
          <p:nvPr/>
        </p:nvSpPr>
        <p:spPr>
          <a:xfrm>
            <a:off x="1224915" y="3355975"/>
            <a:ext cx="792480" cy="792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6115" y="4509135"/>
            <a:ext cx="1910080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选题背景与价值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72815" y="3355975"/>
            <a:ext cx="792480" cy="79248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24" name="Text 21"/>
          <p:cNvSpPr/>
          <p:nvPr/>
        </p:nvSpPr>
        <p:spPr>
          <a:xfrm>
            <a:off x="3472815" y="3355975"/>
            <a:ext cx="792480" cy="792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914015" y="4509135"/>
            <a:ext cx="1910080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核心需求分析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661025" y="3525520"/>
            <a:ext cx="902335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11750" y="4509135"/>
            <a:ext cx="1998345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906385" y="3525520"/>
            <a:ext cx="902335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09815" y="4509135"/>
            <a:ext cx="1910080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关键实现亮点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152380" y="3525520"/>
            <a:ext cx="902335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657715" y="4509135"/>
            <a:ext cx="1910080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测试结果与性能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3920" y="3121025"/>
            <a:ext cx="4133850" cy="2362200"/>
          </a:xfrm>
          <a:prstGeom prst="roundRect">
            <a:avLst>
              <a:gd name="adj" fmla="val 6182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2700" y="4035425"/>
            <a:ext cx="342900" cy="75565"/>
          </a:xfrm>
          <a:prstGeom prst="rect">
            <a:avLst/>
          </a:prstGeom>
          <a:solidFill>
            <a:srgbClr val="EBEBEB"/>
          </a:solidFill>
        </p:spPr>
      </p:sp>
      <p:sp>
        <p:nvSpPr>
          <p:cNvPr id="4" name="Shape 2"/>
          <p:cNvSpPr/>
          <p:nvPr/>
        </p:nvSpPr>
        <p:spPr>
          <a:xfrm>
            <a:off x="5906770" y="3121025"/>
            <a:ext cx="4133850" cy="2362200"/>
          </a:xfrm>
          <a:prstGeom prst="roundRect">
            <a:avLst>
              <a:gd name="adj" fmla="val 6182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5550" y="4035425"/>
            <a:ext cx="342900" cy="75565"/>
          </a:xfrm>
          <a:prstGeom prst="rect">
            <a:avLst/>
          </a:prstGeom>
          <a:solidFill>
            <a:srgbClr val="EBEBEB"/>
          </a:solidFill>
        </p:spPr>
      </p:sp>
      <p:pic>
        <p:nvPicPr>
          <p:cNvPr id="6" name="Image 0" descr="https://kimi-img.moonshot.cn/pub/slides/slides_tmpl/image/25-09-04-16:26:59-d2skqku1bb2p4onbqh90.png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>
            <a:off x="7638415" y="-8890"/>
            <a:ext cx="4553585" cy="38411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7083" y="1232535"/>
            <a:ext cx="2883535" cy="83121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787083" y="1232535"/>
            <a:ext cx="2883535" cy="83121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448" y="1939290"/>
            <a:ext cx="288480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>
                    <a:alpha val="55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9350" y="3368675"/>
            <a:ext cx="66294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9350" y="4168775"/>
            <a:ext cx="367157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AI赋能开发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72200" y="3368675"/>
            <a:ext cx="87249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72200" y="4168775"/>
            <a:ext cx="367157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反思与未来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选题背景与价值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590" y="-24765"/>
            <a:ext cx="12202160" cy="6899275"/>
          </a:xfrm>
          <a:prstGeom prst="rect">
            <a:avLst/>
          </a:prstGeom>
          <a:solidFill>
            <a:srgbClr val="232323"/>
          </a:solidFill>
        </p:spPr>
      </p:sp>
      <p:pic>
        <p:nvPicPr>
          <p:cNvPr id="3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rcRect l="24693"/>
          <a:stretch>
            <a:fillRect/>
          </a:stretch>
        </p:blipFill>
        <p:spPr>
          <a:xfrm>
            <a:off x="-23495" y="1814195"/>
            <a:ext cx="3154680" cy="377253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6:27:03-d2skqlu1bb2p4onbqhi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7830" y="663257"/>
            <a:ext cx="533400" cy="36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695" y="596265"/>
            <a:ext cx="6344285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数字作品展示困境与破局之道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919095" y="2011045"/>
            <a:ext cx="2711450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919095" y="2470150"/>
            <a:ext cx="271145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展示形式单一化困境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954453" y="3238500"/>
            <a:ext cx="2669526" cy="15289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当前数字作品主流展示方式仍为静态图文页面，同质化现象严重，难以在信息爆炸环境中形成独特记忆点，亟需突破平面限制。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58205" y="2011045"/>
            <a:ext cx="2711450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958205" y="2470150"/>
            <a:ext cx="271145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互动体验缺失问题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93563" y="3238500"/>
            <a:ext cx="2669526" cy="1241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传统作品集缺乏互动性与沉浸感，用户多为被动浏览，参与感薄弱，无法充分展现数字媒体作品的技术魅力。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027795" y="2011045"/>
            <a:ext cx="2711450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997315" y="2470150"/>
            <a:ext cx="271145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空间探索破局方案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032673" y="3238500"/>
            <a:ext cx="2669526" cy="1241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本项目以3D博物馆为载体，将用户体验从滚动浏览升级为空间探索，为数字媒体专业学生提供综合性技术展示平台。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6-25-22:38:38-d8ujqrjplu0ddme521ng.jpg"/>
          <p:cNvPicPr>
            <a:picLocks noChangeAspect="1"/>
          </p:cNvPicPr>
          <p:nvPr/>
        </p:nvPicPr>
        <p:blipFill>
          <a:blip r:embed="rId1"/>
          <a:srcRect l="29461" r="29046"/>
          <a:stretch>
            <a:fillRect/>
          </a:stretch>
        </p:blipFill>
        <p:spPr>
          <a:xfrm>
            <a:off x="695642" y="1123275"/>
            <a:ext cx="3961102" cy="5344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94885" y="3883025"/>
            <a:ext cx="7040880" cy="0"/>
          </a:xfrm>
          <a:prstGeom prst="straightConnector1">
            <a:avLst/>
          </a:prstGeom>
          <a:noFill/>
          <a:ln w="12700">
            <a:solidFill>
              <a:srgbClr val="111111"/>
            </a:solidFill>
            <a:prstDash val="dash"/>
            <a:headEnd type="none"/>
            <a:tailEnd type="none"/>
          </a:ln>
        </p:spPr>
      </p:sp>
      <p:sp>
        <p:nvSpPr>
          <p:cNvPr id="4" name="Text 1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三维展示与传统模式的本质差异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94885" y="1203325"/>
            <a:ext cx="313753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交互形式根本转变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843145" y="1838325"/>
            <a:ext cx="3089275" cy="17691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传统模式为被动点击滚动，本项目采用主动第一人称漫游，赋予用户空间探索自主权。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383905" y="1203325"/>
            <a:ext cx="313753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信息组织逻辑升级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32165" y="1838325"/>
            <a:ext cx="3089275" cy="17691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从线性列表网格转变为空间叙事化布局，以展厅分区承载不同类型数字作品。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94885" y="4010025"/>
            <a:ext cx="313753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技术能力显性展示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43145" y="4645025"/>
            <a:ext cx="3089275" cy="17691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项目本身即技术证明，3D渲染与交互设计直接体现开发者的专业实力。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83905" y="4010025"/>
            <a:ext cx="313753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品牌记忆深度强化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432165" y="4645025"/>
            <a:ext cx="3089275" cy="17691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沉浸式体验形成高辨识度，显著提升用户停留时长与信息记忆度。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核心需求分析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2-d2skqlm1bb2p4onbqhhg.png"/>
          <p:cNvPicPr>
            <a:picLocks noChangeAspect="1"/>
          </p:cNvPicPr>
          <p:nvPr/>
        </p:nvPicPr>
        <p:blipFill>
          <a:blip r:embed="rId1"/>
          <a:srcRect l="84" r="84"/>
          <a:stretch>
            <a:fillRect/>
          </a:stretch>
        </p:blipFill>
        <p:spPr>
          <a:xfrm>
            <a:off x="7255510" y="8890"/>
            <a:ext cx="4936490" cy="68402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72350" y="0"/>
            <a:ext cx="1727200" cy="5556885"/>
          </a:xfrm>
          <a:prstGeom prst="parallelogram">
            <a:avLst>
              <a:gd name="adj" fmla="val 84115"/>
            </a:avLst>
          </a:prstGeom>
          <a:solidFill>
            <a:srgbClr val="232323"/>
          </a:solidFill>
        </p:spPr>
      </p:sp>
      <p:sp>
        <p:nvSpPr>
          <p:cNvPr id="4" name="Shape 1"/>
          <p:cNvSpPr/>
          <p:nvPr/>
        </p:nvSpPr>
        <p:spPr>
          <a:xfrm>
            <a:off x="7168515" y="2509520"/>
            <a:ext cx="1377950" cy="4348480"/>
          </a:xfrm>
          <a:prstGeom prst="parallelogram">
            <a:avLst>
              <a:gd name="adj" fmla="val 82610"/>
            </a:avLst>
          </a:prstGeom>
          <a:gradFill flip="none" rotWithShape="1">
            <a:gsLst>
              <a:gs pos="0">
                <a:srgbClr val="EBEBEB"/>
              </a:gs>
              <a:gs pos="30000">
                <a:srgbClr val="EBEBEB"/>
              </a:gs>
              <a:gs pos="100000">
                <a:srgbClr val="EBEBEB">
                  <a:alpha val="60000"/>
                </a:srgbClr>
              </a:gs>
            </a:gsLst>
            <a:lin ang="0" scaled="1"/>
          </a:gradFill>
        </p:spPr>
      </p:sp>
      <p:sp>
        <p:nvSpPr>
          <p:cNvPr id="5" name="Text 2"/>
          <p:cNvSpPr/>
          <p:nvPr/>
        </p:nvSpPr>
        <p:spPr>
          <a:xfrm>
            <a:off x="988060" y="7042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三类用户角色与行为画像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32205" y="1721485"/>
            <a:ext cx="478790" cy="478790"/>
          </a:xfrm>
          <a:prstGeom prst="roundRect">
            <a:avLst>
              <a:gd name="adj" fmla="val 10363"/>
            </a:avLst>
          </a:prstGeom>
          <a:solidFill>
            <a:srgbClr val="232323"/>
          </a:solidFill>
        </p:spPr>
      </p:sp>
      <p:sp>
        <p:nvSpPr>
          <p:cNvPr id="8" name="Text 4"/>
          <p:cNvSpPr/>
          <p:nvPr/>
        </p:nvSpPr>
        <p:spPr>
          <a:xfrm>
            <a:off x="1132205" y="1721485"/>
            <a:ext cx="478790" cy="4787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2275205"/>
            <a:ext cx="5848350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访客与鉴赏家角色定义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2642235"/>
            <a:ext cx="5848350" cy="9538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访客无需登录即可浏览展厅与查看作品详情；鉴赏家作为注册用户可解锁成就、收藏作品并探索隐藏彩蛋，形成从浅层到深度的完整用户链路。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2205" y="3924935"/>
            <a:ext cx="478790" cy="478790"/>
          </a:xfrm>
          <a:prstGeom prst="roundRect">
            <a:avLst>
              <a:gd name="adj" fmla="val 10363"/>
            </a:avLst>
          </a:prstGeom>
          <a:solidFill>
            <a:srgbClr val="232323"/>
          </a:solidFill>
        </p:spPr>
      </p:sp>
      <p:sp>
        <p:nvSpPr>
          <p:cNvPr id="12" name="Text 8"/>
          <p:cNvSpPr/>
          <p:nvPr/>
        </p:nvSpPr>
        <p:spPr>
          <a:xfrm>
            <a:off x="1132205" y="3924935"/>
            <a:ext cx="478790" cy="4787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4478655"/>
            <a:ext cx="5848350" cy="3879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管理员权限体系设计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97280" y="4845685"/>
            <a:ext cx="5848350" cy="666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管理员拥有最高权限，负责作品增删改查、展厅配置、成就管理与数据统计查看，确保内容全生命周期可控可管。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6-25-22:44:30-d8ujtjkr4djl58adthj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942" y="1529999"/>
            <a:ext cx="4583579" cy="255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6560" y="3830320"/>
            <a:ext cx="605880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  <a:headEnd type="none"/>
            <a:tailEnd type="none"/>
          </a:ln>
        </p:spPr>
      </p:sp>
      <p:pic>
        <p:nvPicPr>
          <p:cNvPr id="4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功能需求与非功能指标定义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077328" y="1672590"/>
            <a:ext cx="605726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五大核心功能模块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77328" y="2080895"/>
            <a:ext cx="6057265" cy="7254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涵盖3D展厅漫游、作品分类查看、成就探索系统、可视化后台管理及访问数据统计，形成完整功能闭环。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45520" y="4322681"/>
            <a:ext cx="389124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性能指标严格约束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74913" y="4828762"/>
            <a:ext cx="3832459" cy="16617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首屏加载不超3秒，3D场景帧率不低于50fps，成就反馈延迟控制在500毫秒内。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77328" y="4257675"/>
            <a:ext cx="605726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多端兼容与视觉统一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77328" y="4665980"/>
            <a:ext cx="6057265" cy="7254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响应式适配桌面平板移动端，数据本地持久化保存，采用深色科技主题统一视觉调性。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4835" y="608330"/>
            <a:ext cx="7016115" cy="76327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前后端分离与六大核心模块</a:t>
            </a:r>
            <a:endParaRPr lang="en-US" sz="1600" dirty="0"/>
          </a:p>
        </p:txBody>
      </p:sp>
      <p:pic>
        <p:nvPicPr>
          <p:cNvPr id="3" name="Image 0" descr="https://kimi-img.moonshot.cn/pub/slides/26-06-25-22:45:21-d8uju0dkfv3i5f80209g.jpg"/>
          <p:cNvPicPr>
            <a:picLocks noChangeAspect="1"/>
          </p:cNvPicPr>
          <p:nvPr/>
        </p:nvPicPr>
        <p:blipFill>
          <a:blip r:embed="rId1"/>
          <a:srcRect l="31835" t="8257" r="30712"/>
          <a:stretch>
            <a:fillRect/>
          </a:stretch>
        </p:blipFill>
        <p:spPr>
          <a:xfrm>
            <a:off x="0" y="608330"/>
            <a:ext cx="4239496" cy="5746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1985" y="1953895"/>
            <a:ext cx="6501765" cy="424815"/>
          </a:xfrm>
          <a:prstGeom prst="rect">
            <a:avLst/>
          </a:prstGeom>
          <a:noFill/>
        </p:spPr>
        <p:txBody>
          <a:bodyPr wrap="square" lIns="91440" tIns="45720" rIns="91440" bIns="36195" rtlCol="0" anchor="ctr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技术架构分层设计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51985" y="2406015"/>
            <a:ext cx="6672580" cy="1686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451985" y="2406015"/>
            <a:ext cx="6672580" cy="1686560"/>
          </a:xfrm>
          <a:prstGeom prst="rect">
            <a:avLst/>
          </a:prstGeom>
          <a:noFill/>
        </p:spPr>
        <p:txBody>
          <a:bodyPr wrap="square" lIns="46990" tIns="90170" rIns="90170" bIns="46990" rtlCol="0" anchor="t"/>
          <a:lstStyle/>
          <a:p>
            <a:pPr algn="just">
              <a:lnSpc>
                <a:spcPct val="120000"/>
              </a:lnSpc>
            </a:pPr>
            <a:r>
              <a:rPr lang="en-US" sz="18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前端基于Vue3与Vite构建，3D渲染由Three.js驱动，当前以本地存储实现核心业务并预留后端扩展接口，具备良好的可扩展性。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51985" y="4111625"/>
            <a:ext cx="6501765" cy="424815"/>
          </a:xfrm>
          <a:prstGeom prst="rect">
            <a:avLst/>
          </a:prstGeom>
          <a:noFill/>
        </p:spPr>
        <p:txBody>
          <a:bodyPr wrap="square" lIns="91440" tIns="45720" rIns="91440" bIns="36195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六大模块协同运作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51985" y="4566285"/>
            <a:ext cx="6672580" cy="1686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4451985" y="4566285"/>
            <a:ext cx="6672580" cy="1686560"/>
          </a:xfrm>
          <a:prstGeom prst="rect">
            <a:avLst/>
          </a:prstGeom>
          <a:noFill/>
        </p:spPr>
        <p:txBody>
          <a:bodyPr wrap="square" lIns="46990" tIns="90170" rIns="90170" bIns="46990" rtlCol="0" anchor="t"/>
          <a:lstStyle/>
          <a:p>
            <a:pPr algn="just">
              <a:lnSpc>
                <a:spcPct val="120000"/>
              </a:lnSpc>
            </a:pPr>
            <a:r>
              <a:rPr lang="en-US" sz="18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3D交互模块负责展厅渲染与第一人称控制，作品展示模块管理展品详情，探索成就模块处理激励体系，导航导览模块提供空间指引，后台管理模块实现配置化管理，数据统计模块支撑可视化分析。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900000">
            <a:off x="1751330" y="3255010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https://kimi-img.moonshot.cn/pub/slides/slides_tmpl/image/25-09-04-16:27:05-d2skqme1bb2p4onbqhs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790" y="2846140"/>
            <a:ext cx="2078990" cy="20789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18900000">
            <a:off x="4168140" y="3236595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5" name="Image 1" descr="https://kimi-img.moonshot.cn/pub/slides/slides_tmpl/image/25-09-04-16:27:05-d2skqme1bb2p4onbqh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05" y="2844235"/>
            <a:ext cx="2078990" cy="20789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8900000">
            <a:off x="6584950" y="3232150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7" name="Image 2" descr="https://kimi-img.moonshot.cn/pub/slides/slides_tmpl/image/25-09-04-16:27:05-d2skqme1bb2p4onbqhu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615" y="2835345"/>
            <a:ext cx="2078990" cy="207899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 rot="18900000">
            <a:off x="9001760" y="3236595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9" name="Image 3" descr="https://kimi-img.moonshot.cn/pub/slides/slides_tmpl/image/25-09-04-16:27:05-d2skqme1bb2p4onbqh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425" y="2834640"/>
            <a:ext cx="2078990" cy="207899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3D展厅空间叙事结构设计</a:t>
            </a:r>
            <a:endParaRPr lang="en-US" sz="1600" dirty="0"/>
          </a:p>
        </p:txBody>
      </p:sp>
      <p:pic>
        <p:nvPicPr>
          <p:cNvPr id="11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09-04-16:27:05-d2skqme1bb2p4onbqi00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916237" y="2773686"/>
            <a:ext cx="6350000" cy="225240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08965" y="1139190"/>
            <a:ext cx="469900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入口仪式感营造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608965" y="1491615"/>
            <a:ext cx="435229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双大门紧闭开场，点击后缓缓开启，增强用户代入感与探索期待。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6026785" y="1139190"/>
            <a:ext cx="469900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门厅导航中枢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6026785" y="1491615"/>
            <a:ext cx="435229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设置四个分类展厅门，一号厅开放运营，其余预留扩展空间。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2061845" y="4937760"/>
            <a:ext cx="494792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主展厅展品布局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2061845" y="5289550"/>
            <a:ext cx="472694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八件大型数字展品与六幅墙面装置，支持WASD漫游与鼠标视角控制。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541895" y="4881245"/>
            <a:ext cx="469900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智能交互反馈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541895" y="5290820"/>
            <a:ext cx="435229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射线检测实现精准高亮触发，展签自动浮现，小地图实时同步位置。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关键实现亮点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1424940"/>
            <a:ext cx="7891780" cy="1828800"/>
          </a:xfrm>
          <a:prstGeom prst="rect">
            <a:avLst/>
          </a:prstGeom>
          <a:solidFill>
            <a:srgbClr val="0D0D0D"/>
          </a:solidFill>
        </p:spPr>
      </p:sp>
      <p:pic>
        <p:nvPicPr>
          <p:cNvPr id="3" name="Image 0" descr="https://kimi-img.moonshot.cn/pub/slides/26-06-25-22:46:41-d8ujukai597dremgddbg.jpg"/>
          <p:cNvPicPr>
            <a:picLocks noChangeAspect="1"/>
          </p:cNvPicPr>
          <p:nvPr/>
        </p:nvPicPr>
        <p:blipFill>
          <a:blip r:embed="rId1"/>
          <a:srcRect l="13284" r="49815"/>
          <a:stretch>
            <a:fillRect/>
          </a:stretch>
        </p:blipFill>
        <p:spPr>
          <a:xfrm>
            <a:off x="8753789" y="1808460"/>
            <a:ext cx="2414736" cy="36421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8335" y="4853305"/>
            <a:ext cx="6416040" cy="0"/>
          </a:xfrm>
          <a:prstGeom prst="straightConnector1">
            <a:avLst/>
          </a:prstGeom>
          <a:noFill/>
          <a:ln w="12700">
            <a:solidFill>
              <a:srgbClr val="111111"/>
            </a:solidFill>
            <a:prstDash val="dash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游戏化成就系统的激励设计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335" y="1595755"/>
            <a:ext cx="641604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成就体系分级设计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8335" y="1999615"/>
            <a:ext cx="641604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十五个成就覆盖探索、互动、收集、速度及彩蛋五大类别，按普通、稀有、史诗、传说四级划分，驱动用户深度参与。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8335" y="3294380"/>
            <a:ext cx="641604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全屏正向反馈机制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8335" y="3679190"/>
            <a:ext cx="6416040" cy="3758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解锁时触发金色光效、粒子扩散与专属音效，提供强烈视觉听觉双重激励。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8335" y="5013325"/>
            <a:ext cx="641604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护照与彩蛋收集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8335" y="5398135"/>
            <a:ext cx="641604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博物馆护照为每间展厅定制印章，隐藏彩蛋引导探索角落，进度本地持久化保存。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4540" cy="76200"/>
          </a:xfrm>
          <a:prstGeom prst="rect">
            <a:avLst/>
          </a:prstGeom>
          <a:solidFill>
            <a:srgbClr val="1C1A1B"/>
          </a:solidFill>
        </p:spPr>
      </p:sp>
      <p:pic>
        <p:nvPicPr>
          <p:cNvPr id="3" name="Image 0" descr="https://kimi-img.moonshot.cn/pub/slides/26-06-25-22:48:28-d8ujvf6hek0r8qc0ddm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765" y="1589405"/>
            <a:ext cx="3268141" cy="1821815"/>
          </a:xfrm>
          <a:prstGeom prst="rect">
            <a:avLst/>
          </a:prstGeom>
        </p:spPr>
      </p:pic>
      <p:pic>
        <p:nvPicPr>
          <p:cNvPr id="4" name="Image 1" descr="https://kimi-img.moonshot.cn/pub/slides/26-06-25-22:48:20-d8ujvd6qvl79p34u7of0.jpg"/>
          <p:cNvPicPr>
            <a:picLocks noChangeAspect="1"/>
          </p:cNvPicPr>
          <p:nvPr/>
        </p:nvPicPr>
        <p:blipFill>
          <a:blip r:embed="rId2"/>
          <a:srcRect r="13793"/>
          <a:stretch>
            <a:fillRect/>
          </a:stretch>
        </p:blipFill>
        <p:spPr>
          <a:xfrm>
            <a:off x="3083915" y="1589405"/>
            <a:ext cx="2810434" cy="1821815"/>
          </a:xfrm>
          <a:prstGeom prst="rect">
            <a:avLst/>
          </a:prstGeom>
        </p:spPr>
      </p:pic>
      <p:pic>
        <p:nvPicPr>
          <p:cNvPr id="5" name="Image 2" descr="https://kimi-img.moonshot.cn/pub/slides/26-06-25-22:48:12-d8ujvb6hek0r8qc0d7b0.jpg"/>
          <p:cNvPicPr>
            <a:picLocks noChangeAspect="1"/>
          </p:cNvPicPr>
          <p:nvPr/>
        </p:nvPicPr>
        <p:blipFill>
          <a:blip r:embed="rId3"/>
          <a:srcRect t="990" r="9910"/>
          <a:stretch>
            <a:fillRect/>
          </a:stretch>
        </p:blipFill>
        <p:spPr>
          <a:xfrm>
            <a:off x="314765" y="1611556"/>
            <a:ext cx="2960597" cy="1799664"/>
          </a:xfrm>
          <a:prstGeom prst="rect">
            <a:avLst/>
          </a:prstGeom>
        </p:spPr>
      </p:pic>
      <p:pic>
        <p:nvPicPr>
          <p:cNvPr id="6" name="Image 3" descr="https://kimi-img.moonshot.cn/pub/slides/26-06-25-22:49:07-d8ujvov826pthqom48og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24037" y="1589405"/>
            <a:ext cx="3268141" cy="18218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可视化后台管理的配置化能力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41985" y="3475355"/>
            <a:ext cx="263906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快捷入口与安全认证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641985" y="4137025"/>
            <a:ext cx="263906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快捷键唤出登录界面，管理员账号验证后进入操作后台。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407410" y="3475355"/>
            <a:ext cx="263906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五大管理模块覆盖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3407410" y="4137025"/>
            <a:ext cx="2639060" cy="9447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数据概览、展品管理、展厅配置、成就规则、系统设置全功能覆盖。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172835" y="3475355"/>
            <a:ext cx="263906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危险操作二次确认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172835" y="4137025"/>
            <a:ext cx="2639060" cy="9447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删除重置等高风险操作设确认机制，防止误操作导致数据丢失。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938260" y="3475355"/>
            <a:ext cx="263906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配置迁移便捷支持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938260" y="4137025"/>
            <a:ext cx="2639060" cy="660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一键导入导出配置数据，便于项目备份与多环境迁移部署。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测试结果与性能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rgbClr val="2323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050" y="40360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rgbClr val="23232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8060" y="7042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核心性能指标达成情况验证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23710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7" name="Text 4"/>
          <p:cNvSpPr/>
          <p:nvPr/>
        </p:nvSpPr>
        <p:spPr>
          <a:xfrm>
            <a:off x="1417320" y="23710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52370" y="20002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关键指标全面达标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52370" y="25158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首屏加载低于3秒，桌面端3D场景稳定55帧每秒以上，成就反馈延迟不超500毫秒，详情页响应低于200毫秒，各项性能指标均满足预设要求。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1732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11" name="Text 8"/>
          <p:cNvSpPr/>
          <p:nvPr/>
        </p:nvSpPr>
        <p:spPr>
          <a:xfrm>
            <a:off x="1417320" y="46697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452370" y="42989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多层优化策略落地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452370" y="48145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3D层面实施视锥剔除与面数控制，前端采用代码分割与懒加载，交互使用请求动画帧调度，数据层对本地存储读写进行节流处理。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6-25-22:49:37-d8uk00ean0vh74k8q5e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622" y="1411605"/>
            <a:ext cx="4554426" cy="25304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4735" y="1411605"/>
            <a:ext cx="6056630" cy="2530475"/>
          </a:xfrm>
          <a:prstGeom prst="roundRect">
            <a:avLst>
              <a:gd name="adj" fmla="val 0"/>
            </a:avLst>
          </a:prstGeom>
          <a:solidFill>
            <a:srgbClr val="232323"/>
          </a:solidFill>
        </p:spPr>
      </p:sp>
      <p:pic>
        <p:nvPicPr>
          <p:cNvPr id="4" name="Image 1" descr="https://kimi-img.moonshot.cn/pub/slides/slides_tmpl/image/25-09-04-16:27:03-d2skqlu1bb2p4onbqhm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7465" y="15875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兼容性覆盖与优雅降级策略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6580" y="4144010"/>
            <a:ext cx="519874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主流浏览器全面支持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76580" y="4542790"/>
            <a:ext cx="5119102" cy="666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兼容Chrome 90+、Firefox 88+、Safari 13+及Edge 90+等现代浏览器，确保广泛用户覆盖。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262370" y="1814830"/>
            <a:ext cx="549783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多端自适应体验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360795" y="2278380"/>
            <a:ext cx="5413375" cy="666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桌面端提供完整3D漫游，平板与移动端进行降级适配，保障核心功能可用。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360795" y="4144010"/>
            <a:ext cx="519874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能力检测与特效降级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360795" y="4542790"/>
            <a:ext cx="5119102" cy="666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自动检测WebGL能力，不支持设备友好提示，性能不足时自动关闭粒子泛光特效。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AI赋能开发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3-d2skqlu1bb2p4onbqhmg.png"/>
          <p:cNvPicPr>
            <a:picLocks noChangeAspect="1"/>
          </p:cNvPicPr>
          <p:nvPr/>
        </p:nvPicPr>
        <p:blipFill>
          <a:blip r:embed="rId1"/>
          <a:srcRect t="99" b="99"/>
          <a:stretch>
            <a:fillRect/>
          </a:stretch>
        </p:blipFill>
        <p:spPr>
          <a:xfrm>
            <a:off x="3936683" y="3108325"/>
            <a:ext cx="4319905" cy="2877820"/>
          </a:xfrm>
          <a:prstGeom prst="rect">
            <a:avLst/>
          </a:prstGeom>
        </p:spPr>
      </p:pic>
      <p:pic>
        <p:nvPicPr>
          <p:cNvPr id="3" name="Image 1" descr="https://kimi-img.moonshot.cn/pub/slides/26-06-25-22:51:05-d8uk0mccouaes60qvr4g.jpg"/>
          <p:cNvPicPr>
            <a:picLocks noChangeAspect="1"/>
          </p:cNvPicPr>
          <p:nvPr/>
        </p:nvPicPr>
        <p:blipFill>
          <a:blip r:embed="rId2"/>
          <a:srcRect l="16084" r="13986"/>
          <a:stretch>
            <a:fillRect/>
          </a:stretch>
        </p:blipFill>
        <p:spPr>
          <a:xfrm>
            <a:off x="3937009" y="2772733"/>
            <a:ext cx="4352481" cy="348075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76485" y="3668395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15535" y="151783"/>
                </a:moveTo>
                <a:lnTo>
                  <a:pt x="242350" y="178492"/>
                </a:lnTo>
                <a:cubicBezTo>
                  <a:pt x="255477" y="191568"/>
                  <a:pt x="262770" y="209002"/>
                  <a:pt x="262770" y="227554"/>
                </a:cubicBezTo>
                <a:cubicBezTo>
                  <a:pt x="262770" y="246217"/>
                  <a:pt x="255477" y="263651"/>
                  <a:pt x="242350" y="276726"/>
                </a:cubicBezTo>
                <a:lnTo>
                  <a:pt x="145971" y="372837"/>
                </a:lnTo>
                <a:cubicBezTo>
                  <a:pt x="132283" y="386360"/>
                  <a:pt x="114443" y="393065"/>
                  <a:pt x="96603" y="393065"/>
                </a:cubicBezTo>
                <a:cubicBezTo>
                  <a:pt x="78651" y="393065"/>
                  <a:pt x="60812" y="386360"/>
                  <a:pt x="47235" y="372837"/>
                </a:cubicBezTo>
                <a:lnTo>
                  <a:pt x="20420" y="346127"/>
                </a:lnTo>
                <a:cubicBezTo>
                  <a:pt x="7293" y="333052"/>
                  <a:pt x="0" y="315618"/>
                  <a:pt x="0" y="296955"/>
                </a:cubicBezTo>
                <a:cubicBezTo>
                  <a:pt x="0" y="278403"/>
                  <a:pt x="7293" y="260969"/>
                  <a:pt x="20533" y="247893"/>
                </a:cubicBezTo>
                <a:lnTo>
                  <a:pt x="97052" y="171563"/>
                </a:lnTo>
                <a:lnTo>
                  <a:pt x="126672" y="201179"/>
                </a:lnTo>
                <a:lnTo>
                  <a:pt x="50153" y="277397"/>
                </a:lnTo>
                <a:cubicBezTo>
                  <a:pt x="44880" y="282650"/>
                  <a:pt x="41962" y="289579"/>
                  <a:pt x="41962" y="296955"/>
                </a:cubicBezTo>
                <a:cubicBezTo>
                  <a:pt x="41962" y="304442"/>
                  <a:pt x="44880" y="311371"/>
                  <a:pt x="50153" y="316623"/>
                </a:cubicBezTo>
                <a:lnTo>
                  <a:pt x="76856" y="343222"/>
                </a:lnTo>
                <a:cubicBezTo>
                  <a:pt x="87739" y="354062"/>
                  <a:pt x="105355" y="354062"/>
                  <a:pt x="116238" y="343222"/>
                </a:cubicBezTo>
                <a:lnTo>
                  <a:pt x="212617" y="247223"/>
                </a:lnTo>
                <a:cubicBezTo>
                  <a:pt x="217890" y="241970"/>
                  <a:pt x="220808" y="235041"/>
                  <a:pt x="220808" y="227554"/>
                </a:cubicBezTo>
                <a:cubicBezTo>
                  <a:pt x="220808" y="220178"/>
                  <a:pt x="217890" y="213249"/>
                  <a:pt x="212617" y="207996"/>
                </a:cubicBezTo>
                <a:lnTo>
                  <a:pt x="185914" y="181398"/>
                </a:lnTo>
                <a:close/>
                <a:moveTo>
                  <a:pt x="289589" y="0"/>
                </a:moveTo>
                <a:cubicBezTo>
                  <a:pt x="308214" y="0"/>
                  <a:pt x="325717" y="7265"/>
                  <a:pt x="338957" y="20340"/>
                </a:cubicBezTo>
                <a:lnTo>
                  <a:pt x="365660" y="47050"/>
                </a:lnTo>
                <a:cubicBezTo>
                  <a:pt x="378787" y="60125"/>
                  <a:pt x="386080" y="77559"/>
                  <a:pt x="386080" y="96110"/>
                </a:cubicBezTo>
                <a:cubicBezTo>
                  <a:pt x="386080" y="114662"/>
                  <a:pt x="378787" y="132208"/>
                  <a:pt x="365660" y="145284"/>
                </a:cubicBezTo>
                <a:lnTo>
                  <a:pt x="289140" y="221502"/>
                </a:lnTo>
                <a:lnTo>
                  <a:pt x="259408" y="191998"/>
                </a:lnTo>
                <a:lnTo>
                  <a:pt x="335927" y="115780"/>
                </a:lnTo>
                <a:cubicBezTo>
                  <a:pt x="341200" y="110527"/>
                  <a:pt x="344118" y="103598"/>
                  <a:pt x="344118" y="96110"/>
                </a:cubicBezTo>
                <a:cubicBezTo>
                  <a:pt x="344118" y="88735"/>
                  <a:pt x="341200" y="81806"/>
                  <a:pt x="335927" y="76554"/>
                </a:cubicBezTo>
                <a:lnTo>
                  <a:pt x="309224" y="49955"/>
                </a:lnTo>
                <a:cubicBezTo>
                  <a:pt x="303950" y="44703"/>
                  <a:pt x="296994" y="41797"/>
                  <a:pt x="289589" y="41797"/>
                </a:cubicBezTo>
                <a:cubicBezTo>
                  <a:pt x="282184" y="41797"/>
                  <a:pt x="275115" y="44703"/>
                  <a:pt x="269954" y="49955"/>
                </a:cubicBezTo>
                <a:lnTo>
                  <a:pt x="173463" y="145954"/>
                </a:lnTo>
                <a:cubicBezTo>
                  <a:pt x="168190" y="151206"/>
                  <a:pt x="165385" y="158135"/>
                  <a:pt x="165385" y="165511"/>
                </a:cubicBezTo>
                <a:cubicBezTo>
                  <a:pt x="165385" y="172999"/>
                  <a:pt x="168190" y="179928"/>
                  <a:pt x="173463" y="185181"/>
                </a:cubicBezTo>
                <a:lnTo>
                  <a:pt x="200278" y="211778"/>
                </a:lnTo>
                <a:lnTo>
                  <a:pt x="170546" y="241282"/>
                </a:lnTo>
                <a:lnTo>
                  <a:pt x="143843" y="214685"/>
                </a:lnTo>
                <a:cubicBezTo>
                  <a:pt x="130603" y="201609"/>
                  <a:pt x="123310" y="184175"/>
                  <a:pt x="123310" y="165511"/>
                </a:cubicBezTo>
                <a:cubicBezTo>
                  <a:pt x="123310" y="146960"/>
                  <a:pt x="130603" y="129526"/>
                  <a:pt x="143843" y="116339"/>
                </a:cubicBezTo>
                <a:lnTo>
                  <a:pt x="240221" y="20340"/>
                </a:lnTo>
                <a:cubicBezTo>
                  <a:pt x="253349" y="7265"/>
                  <a:pt x="270964" y="0"/>
                  <a:pt x="28958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1"/>
          <p:cNvSpPr/>
          <p:nvPr/>
        </p:nvSpPr>
        <p:spPr>
          <a:xfrm>
            <a:off x="1928495" y="3709035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63970" y="158609"/>
                </a:moveTo>
                <a:cubicBezTo>
                  <a:pt x="272951" y="158609"/>
                  <a:pt x="280396" y="166129"/>
                  <a:pt x="280396" y="175273"/>
                </a:cubicBezTo>
                <a:lnTo>
                  <a:pt x="280396" y="247883"/>
                </a:lnTo>
                <a:cubicBezTo>
                  <a:pt x="279569" y="257027"/>
                  <a:pt x="272951" y="264547"/>
                  <a:pt x="263970" y="264547"/>
                </a:cubicBezTo>
                <a:cubicBezTo>
                  <a:pt x="254930" y="264547"/>
                  <a:pt x="247603" y="257027"/>
                  <a:pt x="247603" y="247883"/>
                </a:cubicBezTo>
                <a:lnTo>
                  <a:pt x="247603" y="175273"/>
                </a:lnTo>
                <a:cubicBezTo>
                  <a:pt x="247603" y="166129"/>
                  <a:pt x="254989" y="158609"/>
                  <a:pt x="263970" y="158609"/>
                </a:cubicBezTo>
                <a:close/>
                <a:moveTo>
                  <a:pt x="192695" y="108549"/>
                </a:moveTo>
                <a:cubicBezTo>
                  <a:pt x="201676" y="108549"/>
                  <a:pt x="209062" y="116069"/>
                  <a:pt x="209062" y="125213"/>
                </a:cubicBezTo>
                <a:lnTo>
                  <a:pt x="209062" y="247883"/>
                </a:lnTo>
                <a:cubicBezTo>
                  <a:pt x="209062" y="257027"/>
                  <a:pt x="201676" y="264547"/>
                  <a:pt x="192695" y="264547"/>
                </a:cubicBezTo>
                <a:cubicBezTo>
                  <a:pt x="183596" y="264547"/>
                  <a:pt x="176270" y="257027"/>
                  <a:pt x="176270" y="247883"/>
                </a:cubicBezTo>
                <a:lnTo>
                  <a:pt x="176270" y="125213"/>
                </a:lnTo>
                <a:cubicBezTo>
                  <a:pt x="176270" y="116069"/>
                  <a:pt x="183714" y="108549"/>
                  <a:pt x="192695" y="108549"/>
                </a:cubicBezTo>
                <a:close/>
                <a:moveTo>
                  <a:pt x="121353" y="70076"/>
                </a:moveTo>
                <a:cubicBezTo>
                  <a:pt x="130338" y="70076"/>
                  <a:pt x="137727" y="77657"/>
                  <a:pt x="137727" y="86803"/>
                </a:cubicBezTo>
                <a:lnTo>
                  <a:pt x="137727" y="247880"/>
                </a:lnTo>
                <a:cubicBezTo>
                  <a:pt x="137727" y="257026"/>
                  <a:pt x="130338" y="264547"/>
                  <a:pt x="121353" y="264547"/>
                </a:cubicBezTo>
                <a:cubicBezTo>
                  <a:pt x="112309" y="264547"/>
                  <a:pt x="104980" y="257026"/>
                  <a:pt x="104980" y="247880"/>
                </a:cubicBezTo>
                <a:lnTo>
                  <a:pt x="104980" y="86803"/>
                </a:lnTo>
                <a:cubicBezTo>
                  <a:pt x="104980" y="77657"/>
                  <a:pt x="112369" y="70076"/>
                  <a:pt x="121353" y="70076"/>
                </a:cubicBezTo>
                <a:close/>
                <a:moveTo>
                  <a:pt x="54909" y="33392"/>
                </a:moveTo>
                <a:lnTo>
                  <a:pt x="54909" y="301312"/>
                </a:lnTo>
                <a:lnTo>
                  <a:pt x="329575" y="301312"/>
                </a:lnTo>
                <a:lnTo>
                  <a:pt x="329575" y="33392"/>
                </a:lnTo>
                <a:close/>
                <a:moveTo>
                  <a:pt x="16372" y="0"/>
                </a:moveTo>
                <a:lnTo>
                  <a:pt x="369767" y="0"/>
                </a:lnTo>
                <a:cubicBezTo>
                  <a:pt x="378751" y="0"/>
                  <a:pt x="386139" y="7521"/>
                  <a:pt x="386080" y="16666"/>
                </a:cubicBezTo>
                <a:cubicBezTo>
                  <a:pt x="386080" y="25811"/>
                  <a:pt x="377864" y="33392"/>
                  <a:pt x="368880" y="33392"/>
                </a:cubicBezTo>
                <a:lnTo>
                  <a:pt x="362319" y="33392"/>
                </a:lnTo>
                <a:lnTo>
                  <a:pt x="362319" y="317135"/>
                </a:lnTo>
                <a:cubicBezTo>
                  <a:pt x="362319" y="327123"/>
                  <a:pt x="354931" y="333801"/>
                  <a:pt x="345947" y="333801"/>
                </a:cubicBezTo>
                <a:lnTo>
                  <a:pt x="303332" y="333801"/>
                </a:lnTo>
                <a:lnTo>
                  <a:pt x="303332" y="376399"/>
                </a:lnTo>
                <a:cubicBezTo>
                  <a:pt x="303332" y="385544"/>
                  <a:pt x="295884" y="393065"/>
                  <a:pt x="286900" y="393065"/>
                </a:cubicBezTo>
                <a:cubicBezTo>
                  <a:pt x="277916" y="393065"/>
                  <a:pt x="270528" y="385544"/>
                  <a:pt x="270528" y="376399"/>
                </a:cubicBezTo>
                <a:lnTo>
                  <a:pt x="270528" y="333801"/>
                </a:lnTo>
                <a:lnTo>
                  <a:pt x="114725" y="333801"/>
                </a:lnTo>
                <a:lnTo>
                  <a:pt x="114725" y="376399"/>
                </a:lnTo>
                <a:cubicBezTo>
                  <a:pt x="114725" y="385544"/>
                  <a:pt x="107336" y="393065"/>
                  <a:pt x="98352" y="393065"/>
                </a:cubicBezTo>
                <a:cubicBezTo>
                  <a:pt x="89368" y="393065"/>
                  <a:pt x="81921" y="385544"/>
                  <a:pt x="81921" y="376399"/>
                </a:cubicBezTo>
                <a:lnTo>
                  <a:pt x="81921" y="333801"/>
                </a:lnTo>
                <a:lnTo>
                  <a:pt x="39305" y="333801"/>
                </a:lnTo>
                <a:cubicBezTo>
                  <a:pt x="30321" y="333801"/>
                  <a:pt x="22933" y="326281"/>
                  <a:pt x="22933" y="317135"/>
                </a:cubicBezTo>
                <a:lnTo>
                  <a:pt x="22933" y="33392"/>
                </a:lnTo>
                <a:lnTo>
                  <a:pt x="16372" y="33392"/>
                </a:lnTo>
                <a:cubicBezTo>
                  <a:pt x="7388" y="33392"/>
                  <a:pt x="0" y="25811"/>
                  <a:pt x="0" y="16666"/>
                </a:cubicBezTo>
                <a:cubicBezTo>
                  <a:pt x="0" y="7521"/>
                  <a:pt x="7388" y="0"/>
                  <a:pt x="16372" y="0"/>
                </a:cubicBez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6" name="Image 2" descr="https://kimi-img.moonshot.cn/pub/slides/slides_tmpl/image/25-09-04-16:27:03-d2skqlu1bb2p4onbqhl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6230" y="6421120"/>
            <a:ext cx="328930" cy="32893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513820" y="6417945"/>
            <a:ext cx="347345" cy="343535"/>
          </a:xfrm>
          <a:prstGeom prst="ellipse">
            <a:avLst/>
          </a:prstGeom>
          <a:solidFill>
            <a:srgbClr val="232323"/>
          </a:solidFill>
        </p:spPr>
      </p:sp>
      <p:pic>
        <p:nvPicPr>
          <p:cNvPr id="8" name="Image 3" descr="https://kimi-img.moonshot.cn/pub/slides/slides_tmpl/image/25-09-04-16:27:03-d2skqlu1bb2p4onbqhl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0305" y="6432550"/>
            <a:ext cx="328930" cy="3289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AI工具链在开发全流程的应用</a:t>
            </a:r>
            <a:endParaRPr lang="en-US" sz="1600" dirty="0"/>
          </a:p>
        </p:txBody>
      </p:sp>
      <p:pic>
        <p:nvPicPr>
          <p:cNvPr id="10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7550" y="1398270"/>
            <a:ext cx="10859135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需求与文档辅助生成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718854" y="1837055"/>
            <a:ext cx="10857179" cy="4083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项目初期利用大语言模型辅助需求分析、用户角色梳理及技术文档撰写，快速明确功能边界。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32460" y="2988945"/>
            <a:ext cx="278066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代码生成与调试支持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68721" y="3757295"/>
            <a:ext cx="2737670" cy="1241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编码阶段借助AI生成Three.js场景初始化、射线检测逻辑及Vue组件结构，调试阶段辅助定位WebGL异常。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780145" y="2988945"/>
            <a:ext cx="278066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人机协作经验总结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816406" y="3757295"/>
            <a:ext cx="2737670" cy="9538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AI定位为效率放大器而非替代者，关键架构决策与复杂交互逻辑仍需人工深度把控。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反思与未来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57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8060" y="7042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已完成工作的系统性回顾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rot="300000">
            <a:off x="1297305" y="1967230"/>
            <a:ext cx="4190365" cy="3338830"/>
          </a:xfrm>
          <a:prstGeom prst="roundRect">
            <a:avLst>
              <a:gd name="adj" fmla="val 6666"/>
            </a:avLst>
          </a:prstGeom>
          <a:solidFill>
            <a:srgbClr val="232323"/>
          </a:solidFill>
        </p:spPr>
      </p:sp>
      <p:sp>
        <p:nvSpPr>
          <p:cNvPr id="4" name="Shape 2"/>
          <p:cNvSpPr/>
          <p:nvPr/>
        </p:nvSpPr>
        <p:spPr>
          <a:xfrm>
            <a:off x="1419225" y="2094230"/>
            <a:ext cx="4190365" cy="346011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7945" y="2302510"/>
            <a:ext cx="289560" cy="28956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6" name="Shape 4"/>
          <p:cNvSpPr/>
          <p:nvPr/>
        </p:nvSpPr>
        <p:spPr>
          <a:xfrm rot="300000">
            <a:off x="6483985" y="1967230"/>
            <a:ext cx="4190365" cy="3338830"/>
          </a:xfrm>
          <a:prstGeom prst="roundRect">
            <a:avLst>
              <a:gd name="adj" fmla="val 6666"/>
            </a:avLst>
          </a:prstGeom>
          <a:solidFill>
            <a:srgbClr val="EBEBEB"/>
          </a:solidFill>
        </p:spPr>
      </p:sp>
      <p:sp>
        <p:nvSpPr>
          <p:cNvPr id="7" name="Shape 5"/>
          <p:cNvSpPr/>
          <p:nvPr/>
        </p:nvSpPr>
        <p:spPr>
          <a:xfrm>
            <a:off x="6605905" y="2094230"/>
            <a:ext cx="4190365" cy="346011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4625" y="2302510"/>
            <a:ext cx="289560" cy="289560"/>
          </a:xfrm>
          <a:prstGeom prst="ellipse">
            <a:avLst/>
          </a:prstGeom>
          <a:solidFill>
            <a:srgbClr val="EBEBEB"/>
          </a:solidFill>
        </p:spPr>
      </p:sp>
      <p:pic>
        <p:nvPicPr>
          <p:cNvPr id="9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20850" y="2320925"/>
            <a:ext cx="3184100" cy="38854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核心交付成果梳理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20850" y="3133090"/>
            <a:ext cx="3639820" cy="15851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完成入口大门、门厅与主展厅的完整3D空间构建，实现十四件展品的交互与详情系统，集成十五个成就的激励体系，开发五大模块的后台管理系统，输出全套软件工程文档。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7530" y="2320925"/>
            <a:ext cx="3184100" cy="38854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技术框架可复用性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7530" y="3133090"/>
            <a:ext cx="3639820" cy="9509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当前单展厅版本已形成可复用的技术框架与内容管理范式，为后续扩展奠定坚实基础。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" y="1209040"/>
            <a:ext cx="12203430" cy="1332230"/>
          </a:xfrm>
          <a:prstGeom prst="rect">
            <a:avLst/>
          </a:prstGeom>
          <a:solidFill>
            <a:srgbClr val="232323"/>
          </a:solidFill>
        </p:spPr>
      </p:sp>
      <p:sp>
        <p:nvSpPr>
          <p:cNvPr id="3" name="Shape 1"/>
          <p:cNvSpPr/>
          <p:nvPr/>
        </p:nvSpPr>
        <p:spPr>
          <a:xfrm>
            <a:off x="655955" y="2916113"/>
            <a:ext cx="3370443" cy="3297997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4" name="Image 0" descr="https://kimi-img.moonshot.cn/pub/slides/26-06-25-22:50:17-d8uk0aan4f15c1j6escg.jpg"/>
          <p:cNvPicPr>
            <a:picLocks noChangeAspect="1"/>
          </p:cNvPicPr>
          <p:nvPr/>
        </p:nvPicPr>
        <p:blipFill>
          <a:blip r:embed="rId1"/>
          <a:srcRect l="21023" r="22159"/>
          <a:stretch>
            <a:fillRect/>
          </a:stretch>
        </p:blipFill>
        <p:spPr>
          <a:xfrm>
            <a:off x="673511" y="2856394"/>
            <a:ext cx="3414745" cy="33309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5400000">
            <a:off x="800872" y="2731770"/>
            <a:ext cx="254723" cy="249248"/>
          </a:xfrm>
          <a:prstGeom prst="rtTriangle">
            <a:avLst/>
          </a:prstGeom>
          <a:solidFill>
            <a:srgbClr val="000000"/>
          </a:solidFill>
        </p:spPr>
      </p:sp>
      <p:sp>
        <p:nvSpPr>
          <p:cNvPr id="6" name="Shape 3"/>
          <p:cNvSpPr/>
          <p:nvPr/>
        </p:nvSpPr>
        <p:spPr>
          <a:xfrm rot="16200000" flipH="1">
            <a:off x="3916592" y="2731770"/>
            <a:ext cx="254723" cy="249248"/>
          </a:xfrm>
          <a:prstGeom prst="rtTriangle">
            <a:avLst/>
          </a:prstGeom>
          <a:solidFill>
            <a:srgbClr val="000000"/>
          </a:solidFill>
        </p:spPr>
      </p:sp>
      <p:sp>
        <p:nvSpPr>
          <p:cNvPr id="7" name="Shape 4"/>
          <p:cNvSpPr/>
          <p:nvPr/>
        </p:nvSpPr>
        <p:spPr>
          <a:xfrm rot="16200000" flipV="1">
            <a:off x="800872" y="5783517"/>
            <a:ext cx="254723" cy="249248"/>
          </a:xfrm>
          <a:prstGeom prst="rtTriangle">
            <a:avLst/>
          </a:prstGeom>
          <a:solidFill>
            <a:srgbClr val="000000"/>
          </a:solidFill>
        </p:spPr>
      </p:sp>
      <p:sp>
        <p:nvSpPr>
          <p:cNvPr id="8" name="Shape 5"/>
          <p:cNvSpPr/>
          <p:nvPr/>
        </p:nvSpPr>
        <p:spPr>
          <a:xfrm rot="5400000" flipH="1" flipV="1">
            <a:off x="3916592" y="5783517"/>
            <a:ext cx="254723" cy="249248"/>
          </a:xfrm>
          <a:prstGeom prst="rtTriangle">
            <a:avLst/>
          </a:prstGeom>
          <a:solidFill>
            <a:srgbClr val="000000"/>
          </a:solidFill>
        </p:spPr>
      </p:sp>
      <p:sp>
        <p:nvSpPr>
          <p:cNvPr id="9" name="Text 6"/>
          <p:cNvSpPr/>
          <p:nvPr/>
        </p:nvSpPr>
        <p:spPr>
          <a:xfrm>
            <a:off x="988060" y="513715"/>
            <a:ext cx="10534650" cy="609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现存不足与迭代升级路径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4885" y="1398270"/>
            <a:ext cx="9204485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内容维度扩展计划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84885" y="1757045"/>
            <a:ext cx="10568940" cy="3787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当前仅一号展厅开放，后续将填充二至四号展厅，丰富藏品规模与分类。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5500" y="2593340"/>
            <a:ext cx="601853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后端架构升级方向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35500" y="2944495"/>
            <a:ext cx="6910705" cy="3758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本地存储将对接真实后端与云存储，支持多用户访问与数据共享。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35500" y="3870325"/>
            <a:ext cx="601853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交互功能深化路径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35500" y="4221480"/>
            <a:ext cx="6910705" cy="3758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拟增加AI导览员、语音讲解与多人联机参观等进阶互动能力。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35500" y="5147310"/>
            <a:ext cx="601853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沉浸体验技术升级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35500" y="5498465"/>
            <a:ext cx="6910705" cy="3758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计划接入WebXR标准支持VR设备，提供更极致的沉浸式参观体验。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5320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9391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3010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15068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0700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207454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8" name="Image 0" descr="https://kimi-img.moonshot.cn/pub/slides/slides_tmpl/image/25-09-04-16:27:05-d2skqme1bb2p4onbqi10.png"/>
          <p:cNvPicPr>
            <a:picLocks noChangeAspect="1"/>
          </p:cNvPicPr>
          <p:nvPr/>
        </p:nvPicPr>
        <p:blipFill>
          <a:blip r:embed="rId1"/>
          <a:srcRect l="17548" r="23949" b="14559"/>
          <a:stretch>
            <a:fillRect/>
          </a:stretch>
        </p:blipFill>
        <p:spPr>
          <a:xfrm rot="16200000">
            <a:off x="5955983" y="612140"/>
            <a:ext cx="6848475" cy="5623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5320" y="2224405"/>
            <a:ext cx="7026275" cy="1386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8670" y="3585845"/>
            <a:ext cx="5954395" cy="479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THANK YOU FOR WATCHING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84740" y="435356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730885" y="4428490"/>
            <a:ext cx="2477770" cy="350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32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汇报人:数媒2401谢婧雯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4740" y="512064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730885" y="5144770"/>
            <a:ext cx="2477770" cy="425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时间: 2025/06/25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2371</Words>
  <Application>WPS 演示</Application>
  <PresentationFormat>On-screen Show (16:9)</PresentationFormat>
  <Paragraphs>274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数字奇珍阁：交互式作品博物馆答辩</dc:title>
  <dc:creator>Kimi</dc:creator>
  <dc:subject>数字奇珍阁：交互式作品博物馆答辩</dc:subject>
  <cp:lastModifiedBy>谢婧雯</cp:lastModifiedBy>
  <cp:revision>3</cp:revision>
  <dcterms:created xsi:type="dcterms:W3CDTF">2026-06-25T14:52:00Z</dcterms:created>
  <dcterms:modified xsi:type="dcterms:W3CDTF">2026-06-25T14:53:25Z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数字奇珍阁：交互式作品博物馆答辩","ContentProducer":"001191110108MACG2KBH8F10000","ProduceID":"19eff048-4662-8856-8000-00008ebf0cf6","ReservedCode1":"","ContentPropagator":"001191110108MACG2KBH8F20000","PropagateID":"19eff048-4662-8856-8000-00008ebf0cf6","ReservedCode2":""}</vt:lpwstr>
  </property>
  <property fmtid="{D5CDD505-2E9C-101B-9397-08002B2CF9AE}" pid="3" name="ICV">
    <vt:lpwstr>8DA782B008A6482EAB40C768B1C93D39_13</vt:lpwstr>
  </property>
  <property fmtid="{D5CDD505-2E9C-101B-9397-08002B2CF9AE}" pid="4" name="KSOProductBuildVer">
    <vt:lpwstr>2052-12.1.0.23542</vt:lpwstr>
  </property>
</Properties>
</file>